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2918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CLOUD &amp; IOT ENGINEERING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AWS Smart Waste Monitoring &amp;</a:t>
            </a:r>
            <a:br/>
            <a:r>
              <a:t>Collection Optimization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An IoT-driven, serverless cloud platform with predictive regression forecasting,</a:t>
            </a:r>
            <a:br/>
            <a:r>
              <a:t>hysteresis-governed alerting, and combinatorial 2-Opt route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956048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📡 IoT Telemetry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12 Smart bins with synthetic GPS &amp; ultrasonic sensors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48463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4956048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⚡ AWS Serverless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Zero-server footprint (API GW, Lambda, DynamoDB, S3)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8463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4956048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📈 Predictive OLS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Linear regression for hours-to-90% overflow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48463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1976" y="4956048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🚚 2-Opt Route TSP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Combinatorial optimization minimizing collection distance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PROJECT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Overview &amp;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Transforming municipal waste logistics from static schedules to real-time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10896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THE CORE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Fixed-Schedule Blindness: </a:t>
            </a:r>
            <a:r>
              <a:rPr sz="1050">
                <a:solidFill>
                  <a:srgbClr val="475569"/>
                </a:solidFill>
              </a:rPr>
              <a:t>Waste collection trucks traverse predetermined loops regardless of whether bins are 10% or 100% full.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Wasted Municipal Resources: </a:t>
            </a:r>
            <a:r>
              <a:rPr sz="1050">
                <a:solidFill>
                  <a:srgbClr val="475569"/>
                </a:solidFill>
              </a:rPr>
              <a:t>Up to 40% of fleet fuel and staff hours are wasted visiting empty bins.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Spillover &amp; Public Health: </a:t>
            </a:r>
            <a:r>
              <a:rPr sz="1050">
                <a:solidFill>
                  <a:srgbClr val="475569"/>
                </a:solidFill>
              </a:rPr>
              <a:t>High-density campus zones overflow hours before scheduled pickups, causing sanitary hazards.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Absence of Telemetry: </a:t>
            </a:r>
            <a:r>
              <a:rPr sz="1050">
                <a:solidFill>
                  <a:srgbClr val="475569"/>
                </a:solidFill>
              </a:rPr>
              <a:t>Municipalities possess zero real-time visibility into actual fill dynamics.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1089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OUR SERVERLESS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End-to-End IoT Sensing: </a:t>
            </a:r>
            <a:r>
              <a:rPr sz="1050">
                <a:solidFill>
                  <a:srgbClr val="475569"/>
                </a:solidFill>
              </a:rPr>
              <a:t>Real-time ultrasonic fill telemetry ingested via AWS HTTP API Gateway.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Specialized 3-Lambda Pipeline: </a:t>
            </a:r>
            <a:r>
              <a:rPr sz="1050">
                <a:solidFill>
                  <a:srgbClr val="475569"/>
                </a:solidFill>
              </a:rPr>
              <a:t>Dedicated ingest, periodic ML analytics, and read-optimized dashboard APIs.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Automated Predictive Dispatch: </a:t>
            </a:r>
            <a:r>
              <a:rPr sz="1050">
                <a:solidFill>
                  <a:srgbClr val="475569"/>
                </a:solidFill>
              </a:rPr>
              <a:t>OLS linear regression forecasts overflow hours ahead to trigger early dispatch.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Dynamic TSP Route Solver: </a:t>
            </a:r>
            <a:r>
              <a:rPr sz="1050">
                <a:solidFill>
                  <a:srgbClr val="475569"/>
                </a:solidFill>
              </a:rPr>
              <a:t>Nearest-Neighbour + 2-Opt combinatorial algorithms generate optimal truck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10896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MEASURABLE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774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30-45% Fuel Reduction: </a:t>
            </a:r>
            <a:r>
              <a:rPr sz="1050">
                <a:solidFill>
                  <a:srgbClr val="475569"/>
                </a:solidFill>
              </a:rPr>
              <a:t>Trucks exclusively visit bins surpassing critical priority thresholds (P &gt;= 60).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Zero False Alert Spam: </a:t>
            </a:r>
            <a:r>
              <a:rPr sz="1050">
                <a:solidFill>
                  <a:srgbClr val="475569"/>
                </a:solidFill>
              </a:rPr>
              <a:t>Dual-threshold hysteresis (85% alert / 50% reset) prevents notification fatigue.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$0.00 Running Cost: </a:t>
            </a:r>
            <a:r>
              <a:rPr sz="1050">
                <a:solidFill>
                  <a:srgbClr val="475569"/>
                </a:solidFill>
              </a:rPr>
              <a:t>100% serverless architecture operates within AWS Free Tier limits.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F172A"/>
                </a:solidFill>
              </a:rPr>
              <a:t>• 100% Offline Verified: </a:t>
            </a:r>
            <a:r>
              <a:rPr sz="1050">
                <a:solidFill>
                  <a:srgbClr val="475569"/>
                </a:solidFill>
              </a:rPr>
              <a:t>39 comprehensive tests validate the entire pipeline before cloud provisioning.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Why Traditional Waste Management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Analyzing the economic, operational, and environmental flaws of static municipal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💸 Severe Financial Waste</a:t>
            </a:r>
          </a:p>
          <a:p>
            <a:pPr>
              <a:spcAft>
                <a:spcPts val="600"/>
              </a:spcAft>
              <a:defRPr sz="1100" b="1">
                <a:solidFill>
                  <a:srgbClr val="334155"/>
                </a:solidFill>
              </a:defRPr>
            </a:pPr>
            <a:r>
              <a:t>Static Route Inefficiency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Fleet operations spend 35-50% of annual operating budget on fuel, vehicle wear-and-tear, and driver overtime servicing bins that are less than 30% full.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⚠️ Unpredictable Overflow</a:t>
            </a:r>
          </a:p>
          <a:p>
            <a:pPr>
              <a:spcAft>
                <a:spcPts val="600"/>
              </a:spcAft>
              <a:defRPr sz="1100" b="1">
                <a:solidFill>
                  <a:srgbClr val="334155"/>
                </a:solidFill>
              </a:defRPr>
            </a:pPr>
            <a:r>
              <a:t>Environmental &amp; Health Hazards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Cafeterias, libraries, and student centers experience sudden surge volumes. Fixed daily schedules cannot react, causing trash pileups, foul odor, and rodent infestation.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830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📉 Zero Visibility &amp; Alert Fatigue</a:t>
            </a:r>
          </a:p>
          <a:p>
            <a:pPr>
              <a:spcAft>
                <a:spcPts val="600"/>
              </a:spcAft>
              <a:defRPr sz="1100" b="1">
                <a:solidFill>
                  <a:srgbClr val="334155"/>
                </a:solidFill>
              </a:defRPr>
            </a:pPr>
            <a:r>
              <a:t>Blind Operations &amp; Flawed Alarms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Municipal authorities have zero telemetry. Existing crude threshold alarms send duplicate emails for a single bin due to sensor noise, causing staff to ignore all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</a:defRPr>
            </a:pPr>
            <a:r>
              <a:t>COMPARISON: TRADITIONAL DISPATCH vs. AWS SMART WASTE SYSTEM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Dispatch Trigger: </a:t>
            </a:r>
            <a:r>
              <a:rPr sz="1000">
                <a:solidFill>
                  <a:srgbClr val="DC2626"/>
                </a:solidFill>
              </a:rPr>
              <a:t>Fixed calendar schedule (e.g. daily at 8:00 AM)  ➔  </a:t>
            </a:r>
            <a:r>
              <a:rPr b="1" sz="1000">
                <a:solidFill>
                  <a:srgbClr val="059669"/>
                </a:solidFill>
              </a:rPr>
              <a:t>Real-time Priority Score (P &gt;= 60) + Overflow Forecasting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Route Planning: </a:t>
            </a:r>
            <a:r>
              <a:rPr sz="1000">
                <a:solidFill>
                  <a:srgbClr val="DC2626"/>
                </a:solidFill>
              </a:rPr>
              <a:t>Fixed static loop driven by habit/manual map  ➔  </a:t>
            </a:r>
            <a:r>
              <a:rPr b="1" sz="1000">
                <a:solidFill>
                  <a:srgbClr val="059669"/>
                </a:solidFill>
              </a:rPr>
              <a:t>2-Opt TSP heuristic minimizing total distance from Central Depot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Overflow Prevention: </a:t>
            </a:r>
            <a:r>
              <a:rPr sz="1000">
                <a:solidFill>
                  <a:srgbClr val="DC2626"/>
                </a:solidFill>
              </a:rPr>
              <a:t>Reactive: Bins emptied only AFTER citizen complaints  ➔  </a:t>
            </a:r>
            <a:r>
              <a:rPr b="1" sz="1000">
                <a:solidFill>
                  <a:srgbClr val="059669"/>
                </a:solidFill>
              </a:rPr>
              <a:t>Predictive: OLS regression calculates hours to 90% full before overflow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Sensor Alerting: </a:t>
            </a:r>
            <a:r>
              <a:rPr sz="1000">
                <a:solidFill>
                  <a:srgbClr val="DC2626"/>
                </a:solidFill>
              </a:rPr>
              <a:t>None, or noisy alert spam on every reading fluctuation  ➔  </a:t>
            </a:r>
            <a:r>
              <a:rPr b="1" sz="1000">
                <a:solidFill>
                  <a:srgbClr val="059669"/>
                </a:solidFill>
              </a:rPr>
              <a:t>Hysteresis state tracking: Alert at &gt;= 85%, reset only after drop &lt; 50%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• Infrastructure Cost: </a:t>
            </a:r>
            <a:r>
              <a:rPr sz="1000">
                <a:solidFill>
                  <a:srgbClr val="DC2626"/>
                </a:solidFill>
              </a:rPr>
              <a:t>Requires dedicated physical servers or expensive SaaS  ➔  </a:t>
            </a:r>
            <a:r>
              <a:rPr b="1" sz="1000">
                <a:solidFill>
                  <a:srgbClr val="059669"/>
                </a:solidFill>
              </a:rPr>
              <a:t>100% Serverless Pay-As-You-Go AWS architecture ($0 idle cost)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THE CORE CONCEPT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What Was The Idea? The Closed-Loop Intelligent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Creating a continuous, automated feedback loop between physical bins and collection trucks.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755648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SENSE &amp; EMIT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7556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9900"/>
                </a:solidFill>
              </a:defRPr>
            </a:pPr>
            <a:r>
              <a:t>IoT Simulation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Ultrasonic sensor captures fill levels, battery %, GPS coords &amp; emits batch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4951" y="1828800"/>
            <a:ext cx="1755648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INGEST &amp; ARCHIVE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286000"/>
            <a:ext cx="17556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9900"/>
                </a:solidFill>
              </a:defRPr>
            </a:pPr>
            <a:r>
              <a:t>Lambda &amp; DynamoDB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Validates schema, persists current state, logs 7-day TTL history &amp; archives raw JSON in S3.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1224" y="1828800"/>
            <a:ext cx="1755648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PREDICT &amp;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286000"/>
            <a:ext cx="17556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9900"/>
                </a:solidFill>
              </a:defRPr>
            </a:pPr>
            <a:r>
              <a:t>OLS Regression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Detects resets, fits slope m (%/hr), forecasts hours to 90%, and computes Priority Score 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97496" y="1828800"/>
            <a:ext cx="1755648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OPTIMIZE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286000"/>
            <a:ext cx="17556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9900"/>
                </a:solidFill>
              </a:defRPr>
            </a:pPr>
            <a:r>
              <a:t>2-Opt TSP Solver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Selects bins with P &gt;= 60 and computes distance-minimized tour starting from depot.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73768" y="1828800"/>
            <a:ext cx="1755648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DISPATCH &amp;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286000"/>
            <a:ext cx="17556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9900"/>
                </a:solidFill>
              </a:defRPr>
            </a:pPr>
            <a:r>
              <a:t>Dashboard &amp; Hysteresis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Visualizes route on Leaflet map; collection drops fill &lt; 50%, resetting the alert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0698480" cy="1234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KEY PHILOSOPHICAL SHIFT: DEMAND-DRIVEN AUTOMATION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Instead of human operators guessing which bins need collection or drivers driving routine loops, the AWS cloud acts as an autonomous dispatch controller: it monitors, predicts, alerts, optimizes, and directs collection fleets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Complete AWS Serverless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End-to-end component mapping across Ingestion, Storage, Analytics, and Presentation tiers.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3317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1. INGESTION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API Gateway (HTTP API)
</a:t>
            </a:r>
            <a:r>
              <a:rPr sz="950">
                <a:solidFill>
                  <a:srgbClr val="475569"/>
                </a:solidFill>
              </a:rPr>
              <a:t>Lightweight, low-latency REST endpoint exposing POST /readings.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Lambda: waste-ingest
</a:t>
            </a:r>
            <a:r>
              <a:rPr sz="950">
                <a:solidFill>
                  <a:srgbClr val="475569"/>
                </a:solidFill>
              </a:rPr>
              <a:t>Validates payload schema, performs dual-writes to DynamoDB, archives raw data to S3.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Amazon SNS
</a:t>
            </a:r>
            <a:r>
              <a:rPr sz="950">
                <a:solidFill>
                  <a:srgbClr val="475569"/>
                </a:solidFill>
              </a:rPr>
              <a:t>Pub/Sub email topic. Dispatches immediate warning when a bin crosses 85% with hysteresis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6060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5304" y="1783080"/>
            <a:ext cx="233172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STORAGE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DynamoDB: WasteBins
</a:t>
            </a:r>
            <a:r>
              <a:rPr sz="950">
                <a:solidFill>
                  <a:srgbClr val="475569"/>
                </a:solidFill>
              </a:rPr>
              <a:t>Partition Key: bin_id. Stores latest telemetry, fill level, alerted flag, and __ROUTE__ object.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DynamoDB: BinReadings
</a:t>
            </a:r>
            <a:r>
              <a:rPr sz="950">
                <a:solidFill>
                  <a:srgbClr val="475569"/>
                </a:solidFill>
              </a:rPr>
              <a:t>Composite Key: bin_id + timestamp. 7-Day TTL auto-pruning. Used for time-series regression.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Amazon S3 Data Lake
</a:t>
            </a:r>
            <a:r>
              <a:rPr sz="950">
                <a:solidFill>
                  <a:srgbClr val="475569"/>
                </a:solidFill>
              </a:rPr>
              <a:t>Raw JSON archive bucket prefix: raw-readings/YYYY/MM/DD/ for compliance &amp; auditing.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6060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783080"/>
            <a:ext cx="23317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3. ANALYTICS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Amazon EventBridge
</a:t>
            </a:r>
            <a:r>
              <a:rPr sz="950">
                <a:solidFill>
                  <a:srgbClr val="475569"/>
                </a:solidFill>
              </a:rPr>
              <a:t>Serverless cron scheduler triggering execution rule every 15 minutes.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Lambda: waste-analytics
</a:t>
            </a:r>
            <a:r>
              <a:rPr sz="950">
                <a:solidFill>
                  <a:srgbClr val="475569"/>
                </a:solidFill>
              </a:rPr>
              <a:t>Orchestrates reset detection, OLS regression, priority scoring, and 2-Opt TSP route solver.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Route Persistence
</a:t>
            </a:r>
            <a:r>
              <a:rPr sz="950">
                <a:solidFill>
                  <a:srgbClr val="475569"/>
                </a:solidFill>
              </a:rPr>
              <a:t>Writes optimized collection path back into WasteBins under bin_id = '__ROUTE__'.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6060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88552" y="1783080"/>
            <a:ext cx="233172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4. PRESENTATION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28600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Lambda: waste-api
</a:t>
            </a:r>
            <a:r>
              <a:rPr sz="950">
                <a:solidFill>
                  <a:srgbClr val="475569"/>
                </a:solidFill>
              </a:rPr>
              <a:t>High-speed read-only proxy serving sanitized JSON for GET /bins and GET /route.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Leaflet.js Dashboard
</a:t>
            </a:r>
            <a:r>
              <a:rPr sz="950">
                <a:solidFill>
                  <a:srgbClr val="475569"/>
                </a:solidFill>
              </a:rPr>
              <a:t>Interactive GIS browser client with auto-refreshing markers and route polyline overlay.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0F172A"/>
                </a:solidFill>
              </a:rPr>
              <a:t>☁️ Central Depot Node
</a:t>
            </a:r>
            <a:r>
              <a:rPr sz="950">
                <a:solidFill>
                  <a:srgbClr val="475569"/>
                </a:solidFill>
              </a:rPr>
              <a:t>Fixed logistics hub coordinates serving as the tour origin and terminal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ARCHITECTURAL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Why Exactly Three Lambda Functions?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Evaluating the trade-offs between monolithic functions, microservices, and our 3-function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1089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FUNCTION 1: waste-ingest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334155"/>
                </a:solidFill>
              </a:defRPr>
            </a:pPr>
            <a:r>
              <a:t>High-Throughput Write Specialist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Trigger: API Gateway POST /readings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Execution Profile: Latency-critical (runs in &lt; 15ms)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Memory Allocated: 256 MB (I/O bound)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Key Responsibilities: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Strict schema validation of sensor payload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Atomic upsert of current state into WasteBins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Appends reading with TTL into BinReadings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Writes raw JSON batch object into S3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Evaluates 85% threshold with hysteresis check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Publishes alert to Amazon SNS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1089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FUNCTION 2: waste-analytics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334155"/>
                </a:solidFill>
              </a:defRPr>
            </a:pPr>
            <a:r>
              <a:t>Heavy Compute &amp; Optimization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Trigger: Amazon EventBridge (every 15 min)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Execution Profile: Compute-heavy (matrix math &amp; TSP)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Memory Allocated: 512 MB (CPU-burst optimized)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Key Responsibilities: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Queries recent readings history from DynamoDB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Filters out pre-collection historical cycles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Executes Ordinary Least Squares (OLS) regression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Calculates hours to 90% and Priority Scores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Solves TSP tour via Nearest-Neighbour + 2-Opt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Persists tour under bin_id = '__ROUTE__'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10896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FUNCTION 3: waste-api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334155"/>
                </a:solidFill>
              </a:defRPr>
            </a:pPr>
            <a:r>
              <a:t>Low-Latency Read Gateway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Trigger: API Gateway GET /bins &amp; GET /route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Execution Profile: Read-only, ultra-low latency (&lt; 10ms)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Memory Allocated: 256 MB (high-concurrency read)</a:t>
            </a:r>
          </a:p>
          <a:p>
            <a:pPr>
              <a:spcAft>
                <a:spcPts val="300"/>
              </a:spcAft>
              <a:defRPr sz="950" b="1">
                <a:solidFill>
                  <a:srgbClr val="1E293B"/>
                </a:solidFill>
              </a:defRPr>
            </a:pPr>
            <a:r>
              <a:t>Key Responsibilities: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Fetches all active bin records from WasteBins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Separates regular bin items from '__ROUTE__'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Sanitizes DynamoDB Decimal types to JSON floats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Applies CORS headers (Access-Control-Allow-Origin)</a:t>
            </a:r>
          </a:p>
          <a:p>
            <a:pPr>
              <a:spcAft>
                <a:spcPts val="300"/>
              </a:spcAft>
              <a:defRPr sz="950" b="0">
                <a:solidFill>
                  <a:srgbClr val="475569"/>
                </a:solidFill>
              </a:defRPr>
            </a:pPr>
            <a:r>
              <a:t>  • Delivers sub-second payload to Leaflet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INGESTION &amp; ALERTING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Smart Ingestion &amp; Alert Hysteresis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How waste-ingest handles real-world ultrasonic sensor jitter and completely eliminates alert fatigue.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⚡ SENSOR INGESTION &amp; VALIDATION FLOW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Strict Schema Validation: </a:t>
            </a:r>
            <a:r>
              <a:rPr sz="1000">
                <a:solidFill>
                  <a:srgbClr val="475569"/>
                </a:solidFill>
              </a:rPr>
              <a:t>Every incoming payload is validated: bin_id (string), fill_level (0-100 float), timestamp (int), battery_level, latitude, longitude. Rejects malformed requests with HTTP 400.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Atomic Upsert (WasteBins): </a:t>
            </a:r>
            <a:r>
              <a:rPr sz="1000">
                <a:solidFill>
                  <a:srgbClr val="475569"/>
                </a:solidFill>
              </a:rPr>
              <a:t>Updates latest telemetry, status tier, and timestamp. Preserves the current alerted flag to maintain hysteresis state across reads.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Time-Series Logging (BinReadings): </a:t>
            </a:r>
            <a:r>
              <a:rPr sz="1000">
                <a:solidFill>
                  <a:srgbClr val="475569"/>
                </a:solidFill>
              </a:rPr>
              <a:t>Appends timestamped item with a pre-calculated 7-day TTL epoch timestamp (now + 7 * 86400).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S3 Raw Object Lake: </a:t>
            </a:r>
            <a:r>
              <a:rPr sz="1000">
                <a:solidFill>
                  <a:srgbClr val="475569"/>
                </a:solidFill>
              </a:rPr>
              <a:t>Concurrently saves the raw batch JSON under raw-readings/YYYY/MM/DD/ for immutable auditing and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t>🎛️ DUAL-THRESHOLD HYSTERESIS STATE MACHINE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The Sensor Jitter Problem: </a:t>
            </a:r>
            <a:r>
              <a:rPr sz="1000">
                <a:solidFill>
                  <a:srgbClr val="475569"/>
                </a:solidFill>
              </a:rPr>
              <a:t>Ultrasonic sensors fluctuate by +/- 2% due to trash settling, temperature shifts, and sensor noise. A single threshold (85%) would trigger dozens of emails for a single bin (85.1%, 84.9%, 85.2%).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Trigger Phase (&gt;= 85%): </a:t>
            </a:r>
            <a:r>
              <a:rPr sz="1000">
                <a:solidFill>
                  <a:srgbClr val="475569"/>
                </a:solidFill>
              </a:rPr>
              <a:t>When fill level reaches 85% AND alerted == false: SNS fires an emergency email, and alerted is set to true in DynamoDB.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Suppression Phase (85% to 50%): </a:t>
            </a:r>
            <a:r>
              <a:rPr sz="1000">
                <a:solidFill>
                  <a:srgbClr val="475569"/>
                </a:solidFill>
              </a:rPr>
              <a:t>Subsequent readings fluctuating above 85% generate ZERO additional emails because alerted == true. Operators are spared notification spam.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Reset Phase (&lt; 50%): </a:t>
            </a:r>
            <a:r>
              <a:rPr sz="1000">
                <a:solidFill>
                  <a:srgbClr val="475569"/>
                </a:solidFill>
              </a:rPr>
              <a:t>When collection occurs and fill level drops below 50%: alerted is reset to false. The bin is re-armed for future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DATABASE &amp; STORAGE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Dual-Store Strategy: DynamoDB + Amazon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Why NoSQL DynamoDB and S3 Object Storage were chosen over a traditional relational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1089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DYNAMODB: WasteBins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334155"/>
                </a:solidFill>
              </a:defRPr>
            </a:pPr>
            <a:r>
              <a:t>Fast State Store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Table Schema: </a:t>
            </a:r>
            <a:r>
              <a:rPr sz="950">
                <a:solidFill>
                  <a:srgbClr val="475569"/>
                </a:solidFill>
              </a:rPr>
              <a:t>Primary Key = bin_id (String)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Access Pattern: </a:t>
            </a:r>
            <a:r>
              <a:rPr sz="950">
                <a:solidFill>
                  <a:srgbClr val="475569"/>
                </a:solidFill>
              </a:rPr>
              <a:t>Single-digit millisecond Point-Reads &amp; Upserts by bin_id.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Items Stored: </a:t>
            </a:r>
            <a:r>
              <a:rPr sz="950">
                <a:solidFill>
                  <a:srgbClr val="475569"/>
                </a:solidFill>
              </a:rPr>
              <a:t>Latest fill level, battery %, GPS lat/lng, status ('Normal', 'Moderate', 'Critical'), alerted flag.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Special Entity: </a:t>
            </a:r>
            <a:r>
              <a:rPr sz="950">
                <a:solidFill>
                  <a:srgbClr val="475569"/>
                </a:solidFill>
              </a:rPr>
              <a:t>Stores the active route payload under bin_id = '__ROUTE__'.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75569"/>
                </a:solidFill>
              </a:rPr>
              <a:t>• Why DynamoDB? Fully serverless, zero connection-pool bottlenecks, scales to infinite concurrency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10896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DYNAMODB: BinReadings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334155"/>
                </a:solidFill>
              </a:defRPr>
            </a:pPr>
            <a:r>
              <a:t>Time-Series Telemetry with TTL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Table Schema: </a:t>
            </a:r>
            <a:r>
              <a:rPr sz="950">
                <a:solidFill>
                  <a:srgbClr val="475569"/>
                </a:solidFill>
              </a:rPr>
              <a:t>Composite Key = bin_id (PK) + timestamp (SK)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Access Pattern: </a:t>
            </a:r>
            <a:r>
              <a:rPr sz="950">
                <a:solidFill>
                  <a:srgbClr val="475569"/>
                </a:solidFill>
              </a:rPr>
              <a:t>Range queries (BETWEEN / &gt;) fetching the last 2-24 hours for linear regression.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Time-To-Live (TTL): </a:t>
            </a:r>
            <a:r>
              <a:rPr sz="950">
                <a:solidFill>
                  <a:srgbClr val="475569"/>
                </a:solidFill>
              </a:rPr>
              <a:t>Built-in DynamoDB TTL automatically scans and purges records older than 7 days.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Zero Cost Deletions: </a:t>
            </a:r>
            <a:r>
              <a:rPr sz="950">
                <a:solidFill>
                  <a:srgbClr val="475569"/>
                </a:solidFill>
              </a:rPr>
              <a:t>TTL background deletes consume 0 Read/Write Capacity Units and incur $0 extra cost.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475569"/>
                </a:solidFill>
              </a:rPr>
              <a:t>• Why TTL? Keeps table lean, optimizes query latency, and bounds storage costs permanently.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1089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AMAZON S3: Raw Archive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334155"/>
                </a:solidFill>
              </a:defRPr>
            </a:pPr>
            <a:r>
              <a:t>Immutable Data Lake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Storage Pattern: </a:t>
            </a:r>
            <a:r>
              <a:rPr sz="950">
                <a:solidFill>
                  <a:srgbClr val="475569"/>
                </a:solidFill>
              </a:rPr>
              <a:t>JSON batch files partitioned by prefix: raw-readings/YYYY/MM/DD/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Role: </a:t>
            </a:r>
            <a:r>
              <a:rPr sz="950">
                <a:solidFill>
                  <a:srgbClr val="475569"/>
                </a:solidFill>
              </a:rPr>
              <a:t>Serves as an immutable audit trail and historical training corpus.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Durability: </a:t>
            </a:r>
            <a:r>
              <a:rPr sz="950">
                <a:solidFill>
                  <a:srgbClr val="475569"/>
                </a:solidFill>
              </a:rPr>
              <a:t>99.999999999% (11 9's) durability.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Future-Proofing: </a:t>
            </a:r>
            <a:r>
              <a:rPr sz="950">
                <a:solidFill>
                  <a:srgbClr val="475569"/>
                </a:solidFill>
              </a:rPr>
              <a:t>Enables direct querying via Amazon Athena or batch retraining via AWS Glue/SageMaker without impacting operational DynamoDB tables.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Cost Efficiency: </a:t>
            </a:r>
            <a:r>
              <a:rPr sz="950">
                <a:solidFill>
                  <a:srgbClr val="475569"/>
                </a:solidFill>
              </a:rPr>
              <a:t>Extremely low cost ($0.023/GB/month).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ANALYTICS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Scheduled Analytics &amp; Telemetry Cleansing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How waste-analytics isolates active fill cycles and cleanses telemetry prior to regression.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⏱️ EVENTBRIDGE TRIGGER &amp; WORKFLOW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15-Minute Automated Heartbeat: </a:t>
            </a:r>
            <a:r>
              <a:rPr sz="1000">
                <a:solidFill>
                  <a:srgbClr val="475569"/>
                </a:solidFill>
              </a:rPr>
              <a:t>Amazon EventBridge emits scheduled cron events rate(15 minutes). No human intervention is needed to recalculate routes.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Batch Reading Query: </a:t>
            </a:r>
            <a:r>
              <a:rPr sz="1000">
                <a:solidFill>
                  <a:srgbClr val="475569"/>
                </a:solidFill>
              </a:rPr>
              <a:t>For each monitored bin, the Lambda queries the last 24 hours of timestamp-fill pairs from BinReadings using DynamoDB query expressions.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The Collection Reset Problem: </a:t>
            </a:r>
            <a:r>
              <a:rPr sz="1000">
                <a:solidFill>
                  <a:srgbClr val="475569"/>
                </a:solidFill>
              </a:rPr>
              <a:t>If a bin was at 95% at 2:00 PM, collected at 2:15 PM (drops to 10%), and rises to 25% by 3:00 PM: a naive linear regression across all 24 hours would compute a negative or flat slope!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Smart Reset Filtering: </a:t>
            </a:r>
            <a:r>
              <a:rPr sz="1000">
                <a:solidFill>
                  <a:srgbClr val="475569"/>
                </a:solidFill>
              </a:rPr>
              <a:t>Our filter scans backwards in time. When a sharp drop &gt;= 15% is detected between adjacent readings, all readings prior to that drop belong to an obsolete collection cycle and are discarded.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Active Fill Cycle: </a:t>
            </a:r>
            <a:r>
              <a:rPr sz="1000">
                <a:solidFill>
                  <a:srgbClr val="475569"/>
                </a:solidFill>
              </a:rPr>
              <a:t>Regression is executed strictly on readings after the latest reset event, ensuring accurate positive slope computation.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💻 IMPLEMENTATION: RESET DETECTION CODE</a:t>
            </a:r>
          </a:p>
          <a:p>
            <a:pPr>
              <a:spcAft>
                <a:spcPts val="10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# lambdas/waste_analytics/predictor.py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def filter_readings_after_latest_reset(readings, drop_threshold=15.0):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if len(readings) &lt; 2: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return readings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# Sort chronologically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sorted_readings = sorted(readings, key=lambda r: r['timestamp'])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latest_reset_idx = 0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for i in range(1, len(sorted_readings)):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prev_fill = sorted_readings[i-1]['fill_level']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curr_fill = sorted_readings[i]['fill_level']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# Emptying event detected (drop &gt;= 15%)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if (prev_fill - curr_fill) &gt;= drop_threshold: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    latest_reset_idx = i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        </a:t>
            </a:r>
          </a:p>
          <a:p>
            <a:pPr>
              <a:spcAft>
                <a:spcPts val="100"/>
              </a:spcAft>
              <a:defRPr sz="950">
                <a:solidFill>
                  <a:srgbClr val="FFFFFF"/>
                </a:solidFill>
                <a:latin typeface="Consolas"/>
              </a:defRPr>
            </a:pPr>
            <a:r>
              <a:t>    return sorted_readings[latest_reset_idx:]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MATHEMATICAL CORE: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Forecasting Fill Dynamics via Ordinary Least Squares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Derivation of fill rate slope, overflow time projection, and robust edge-case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📐 ORDINARY LEAST SQUARES (OLS) DERIVATION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Linear Model:
  </a:t>
            </a:r>
            <a:r>
              <a:rPr sz="950">
                <a:solidFill>
                  <a:srgbClr val="475569"/>
                </a:solidFill>
              </a:rPr>
              <a:t>Given N active reading pairs (t_i, y_i), where t_i is timestamp in seconds and y_i is fill level (%):  y = m * t + c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Slope Calculation (m):
  </a:t>
            </a:r>
            <a:r>
              <a:rPr sz="950">
                <a:solidFill>
                  <a:srgbClr val="475569"/>
                </a:solidFill>
              </a:rPr>
              <a:t>m = [ N * Σ(t_i * y_i) - (Σ t_i)(Σ y_i) ] / [ N * Σ(t_i^2) - (Σ t_i)^2 ]
Represents instantaneous fill rate in % per second.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Hourly Fill Rate:
  </a:t>
            </a:r>
            <a:r>
              <a:rPr sz="950">
                <a:solidFill>
                  <a:srgbClr val="475569"/>
                </a:solidFill>
              </a:rPr>
              <a:t>Fill Rate (%/hr) = m * 3600 seconds/hr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Intercept Calculation (c):
  </a:t>
            </a:r>
            <a:r>
              <a:rPr sz="950">
                <a:solidFill>
                  <a:srgbClr val="475569"/>
                </a:solidFill>
              </a:rPr>
              <a:t>c = [ Σ y_i - m * Σ t_i ] / 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Hours to 90% Overflow Forecast:
  </a:t>
            </a:r>
            <a:r>
              <a:rPr sz="950">
                <a:solidFill>
                  <a:srgbClr val="475569"/>
                </a:solidFill>
              </a:rPr>
              <a:t>t_90 = (90.0 - current_fill) / (m * 3600)
Directly predicts remaining operational hours until critical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🛡️ ROBUST EDGE-CASE SAFEGUARDS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Zero or Flat Slope (m &lt;= 0): </a:t>
            </a:r>
            <a:r>
              <a:rPr sz="1000">
                <a:solidFill>
                  <a:srgbClr val="475569"/>
                </a:solidFill>
              </a:rPr>
              <a:t>If bin fill is static or slightly decreasing, slope is zero or negative. A naive formula divides by zero! The predictor safely detects m &lt;= 0 and returns hours_to_90 = null.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Insufficient Data Points (N &lt; 2): </a:t>
            </a:r>
            <a:r>
              <a:rPr sz="1000">
                <a:solidFill>
                  <a:srgbClr val="475569"/>
                </a:solidFill>
              </a:rPr>
              <a:t>If a bin was recently provisioned or emptied with only 1 reading, regression is undefined. Returns hours_to_90 = null without crashing.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Already At or Exceeding 90%: </a:t>
            </a:r>
            <a:r>
              <a:rPr sz="1000">
                <a:solidFill>
                  <a:srgbClr val="475569"/>
                </a:solidFill>
              </a:rPr>
              <a:t>If current_fill &gt;= 90%, the bin has already reached overflow threshold. Formula returns hours_to_90 = 0.0 immediately.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Zero Variance in Timestamps: </a:t>
            </a:r>
            <a:r>
              <a:rPr sz="1000">
                <a:solidFill>
                  <a:srgbClr val="475569"/>
                </a:solidFill>
              </a:rPr>
              <a:t>Denominator [N * Σt^2 - (Σt)^2] == 0 safeguard prevents ZeroDivisionError; safely defaults to null.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ALGORITHMIC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Dynamic Priority Scoring &amp; Collection Stop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How the system balances current fill severity against future overflow urgency.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554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PRIORITY SCORING FORMULA</a:t>
            </a:r>
          </a:p>
          <a:p>
            <a:pPr>
              <a:spcAft>
                <a:spcPts val="400"/>
              </a:spcAft>
              <a:defRPr sz="2000" b="1">
                <a:solidFill>
                  <a:srgbClr val="FFFFFF"/>
                </a:solidFill>
                <a:latin typeface="Consolas"/>
              </a:defRPr>
            </a:pPr>
            <a:r>
              <a:t>P = 0.60 × (current_fill) + [ 40.0 / (hours_to_90 + 0.5) ]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Dual-Factor Objective: 60% weight allocated to current fill volume; 40% dynamically accelerated as time-to-overflow approaches zero. Clamped strictly to [0.0, 100.0].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4747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520440"/>
            <a:ext cx="310896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SCENARIO A: Critical 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4155"/>
                </a:solidFill>
              </a:defRPr>
            </a:pPr>
            <a:r>
              <a:t>Fill: 92%, Rate: 6%/hr</a:t>
            </a:r>
          </a:p>
          <a:p>
            <a:pPr>
              <a:spcAft>
                <a:spcPts val="600"/>
              </a:spcAft>
              <a:defRPr sz="1100" b="1">
                <a:solidFill>
                  <a:srgbClr val="DC2626"/>
                </a:solidFill>
              </a:defRPr>
            </a:pPr>
            <a:r>
              <a:t>P = 100.0 (Max Urgency)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Current fill &gt;= 90.0% triggers instant clamping to P = 100.0.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Immediate candidate for priority collection regardless of distance.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383280"/>
            <a:ext cx="34747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3520440"/>
            <a:ext cx="310896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SCENARIO B: Rapid Surge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9776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4155"/>
                </a:solidFill>
              </a:defRPr>
            </a:pPr>
            <a:r>
              <a:t>Fill: 68%, Rate: 12%/hr, t_90 = 1.83 hrs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P = 57.9 + 17.1 = 75.0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Moderate current volume, but fast fill rate accelerates urgency.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Surpasses P &gt;= 60 threshold; selected for active truck route!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383280"/>
            <a:ext cx="34747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3520440"/>
            <a:ext cx="310896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SCENARIO C: Slow Accumulation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77639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4155"/>
                </a:solidFill>
              </a:defRPr>
            </a:pPr>
            <a:r>
              <a:t>Fill: 65%, Rate: 1%/hr, t_90 = 25.0 hrs</a:t>
            </a:r>
          </a:p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</a:defRPr>
            </a:pPr>
            <a:r>
              <a:t>P = 39.0 + 1.6 = 40.6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Substantial current fill, but low accumulation rate.</a:t>
            </a:r>
          </a:p>
          <a:p>
            <a:pPr>
              <a:spcAft>
                <a:spcPts val="200"/>
              </a:spcAft>
              <a:defRPr sz="950">
                <a:solidFill>
                  <a:srgbClr val="475569"/>
                </a:solidFill>
              </a:defRPr>
            </a:pPr>
            <a:r>
              <a:t>• P &lt; 60 threshold; collection deferred to avoid unnecessary truck stops.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COMBINATORIAL ROUTE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Solving the Traveling Salesperson Problem (TSP)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Why classic algorithms fail and how our 2-Stage Heuristic constructs distance-minimized tours.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🧩 THE ROUTING PROBLEM &amp; ALGORITHMIC CHOICE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The NP-Hard Challenge: </a:t>
            </a:r>
            <a:r>
              <a:rPr sz="950">
                <a:solidFill>
                  <a:srgbClr val="475569"/>
                </a:solidFill>
              </a:rPr>
              <a:t>Selecting and ordering N stops is the Traveling Salesperson Problem (TSP). The number of possible routes is (N-1)! / 2. For 15 bins, this exceeds 43 billion combinations!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Why NOT Brute Force?: </a:t>
            </a:r>
            <a:r>
              <a:rPr sz="950">
                <a:solidFill>
                  <a:srgbClr val="475569"/>
                </a:solidFill>
              </a:rPr>
              <a:t>Evaluating 43 billion routes in Python would take days. In AWS Lambda with a 15-minute ceiling, it results in timeout and crash.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Why NOT Dijkstra or A*?: </a:t>
            </a:r>
            <a:r>
              <a:rPr sz="950">
                <a:solidFill>
                  <a:srgbClr val="475569"/>
                </a:solidFill>
              </a:rPr>
              <a:t>Dijkstra and A* calculate the shortest path between TWO specific nodes in a graph. They do NOT solve which order to visit multiple stops in a closed tour.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Our Solution: 2-Stage Heuristic: </a:t>
            </a:r>
            <a:r>
              <a:rPr sz="950">
                <a:solidFill>
                  <a:srgbClr val="475569"/>
                </a:solidFill>
              </a:rPr>
              <a:t>1. Nearest-Neighbour ($O(n^2)$) greedy pass establishes a valid baseline tour from the Central Depot.
2. 2-Opt local search ($O(n^2)$) systematically eliminates path intersections to achieve near-optimal routing in &lt; 5 milliseconds!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59669"/>
                </a:solidFill>
              </a:defRPr>
            </a:pPr>
            <a:r>
              <a:t>🔄 2-OPT LOCAL SEARCH MECHANICS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Edge Swap Evaluation: </a:t>
            </a:r>
            <a:r>
              <a:rPr sz="950">
                <a:solidFill>
                  <a:srgbClr val="475569"/>
                </a:solidFill>
              </a:rPr>
              <a:t>For every non-adjacent edge pair (A, B) and (C, D) in the tour, test if uncrossing them and reconnecting (A, C) and (B, D) reduces total distance: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Distance Delta Formula:
  </a:t>
            </a:r>
            <a:r>
              <a:rPr sz="950">
                <a:solidFill>
                  <a:srgbClr val="475569"/>
                </a:solidFill>
              </a:rPr>
              <a:t>Δd = [ dist(A, C) + dist(B, D) ] - [ dist(A, B) + dist(C, D) ]
If Δd &lt; 0, the sub-tour segment is reversed!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Haversine Distance Matrix: </a:t>
            </a:r>
            <a:r>
              <a:rPr sz="950">
                <a:solidFill>
                  <a:srgbClr val="475569"/>
                </a:solidFill>
              </a:rPr>
              <a:t>Pairwise surface distances are computed via Great-Circle Haversine spherical trigonometry taking exact Earth curvature into account: R = 6371.0 km.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Depot Integrity Guarantee: </a:t>
            </a:r>
            <a:r>
              <a:rPr sz="950">
                <a:solidFill>
                  <a:srgbClr val="475569"/>
                </a:solidFill>
              </a:rPr>
              <a:t>The tour strictly begins and terminates at the Central Depot coordinates (12.9700° N, 79.1600° E). Drivers return to base without backtracking.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Guaranteed Convergence: </a:t>
            </a:r>
            <a:r>
              <a:rPr sz="950">
                <a:solidFill>
                  <a:srgbClr val="475569"/>
                </a:solidFill>
              </a:rPr>
              <a:t>Mathematically guarantees that optimized distance is strictly &lt;= Nearest-Neighbour distance. Stops when no further Δd &lt; 0 swaps exist.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PRESENTATION &amp; DISPATCH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Real-Time REST API &amp; Interactive Leaflet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Delivering sub-second map visualization, status tiering, and live telemetry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563EB"/>
                </a:solidFill>
              </a:defRPr>
            </a:pPr>
            <a:r>
              <a:t>🌐 REST API CONTRACT (waste-api)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GET /bins Endpoint: </a:t>
            </a:r>
            <a:r>
              <a:rPr sz="1000">
                <a:solidFill>
                  <a:srgbClr val="475569"/>
                </a:solidFill>
              </a:rPr>
              <a:t>Retrieves all live bins from WasteBins. Automatically excludes the internal '__ROUTE__' record. Converts DynamoDB Decimal instances into clean JSON floats.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GET /route Endpoint: </a:t>
            </a:r>
            <a:r>
              <a:rPr sz="1000">
                <a:solidFill>
                  <a:srgbClr val="475569"/>
                </a:solidFill>
              </a:rPr>
              <a:t>Fetches the active optimized collection tour from WasteBins where bin_id == '__ROUTE__'. Returns ordered stop sequence, cumulative distance (km), and depot coordinates.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CORS &amp; Performance Optimization: </a:t>
            </a:r>
            <a:r>
              <a:rPr sz="1000">
                <a:solidFill>
                  <a:srgbClr val="475569"/>
                </a:solidFill>
              </a:rPr>
              <a:t>Returns standard Access-Control-Allow-Origin: * headers. Zero database scans; simple Query/GetItem operations ensure sub-15ms response latency.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• Error Resilience: </a:t>
            </a:r>
            <a:r>
              <a:rPr sz="1000">
                <a:solidFill>
                  <a:srgbClr val="475569"/>
                </a:solidFill>
              </a:rPr>
              <a:t>Returns HTTP 404 with structured JSON message if route generation has not yet run or if the database is unseeded.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59669"/>
                </a:solidFill>
              </a:defRPr>
            </a:pPr>
            <a:r>
              <a:t>🗺️ LEAFLET.JS WEB DASHBOARD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Color-Coded Status Markers: </a:t>
            </a:r>
            <a:r>
              <a:rPr sz="1000">
                <a:solidFill>
                  <a:srgbClr val="475569"/>
                </a:solidFill>
              </a:rPr>
              <a:t>Bins dynamically render with status badges:
  • Green Marker: Normal (&lt; 60% fill)
  • Amber Marker: Moderate (60% - 84% fill)
  • Red Pulsing Marker: Critical (&gt;= 85% fill)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Dynamic Route Polyline: </a:t>
            </a:r>
            <a:r>
              <a:rPr sz="1000">
                <a:solidFill>
                  <a:srgbClr val="475569"/>
                </a:solidFill>
              </a:rPr>
              <a:t>Renders the calculated 2-Opt route as an interactive blue polyline connecting Depot -&gt; Stop 1 -&gt; Stop 2 -&gt; ... -&gt; Depot.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Live Telemetry Modal: </a:t>
            </a:r>
            <a:r>
              <a:rPr sz="1000">
                <a:solidFill>
                  <a:srgbClr val="475569"/>
                </a:solidFill>
              </a:rPr>
              <a:t>Clicking any bin marker reveals location name, fill percentage, estimated hours to 90%, battery health, and last updated timestamp.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Lightweight Zero-Build Architecture: </a:t>
            </a:r>
            <a:r>
              <a:rPr sz="1000">
                <a:solidFill>
                  <a:srgbClr val="475569"/>
                </a:solidFill>
              </a:rPr>
              <a:t>Pure HTML5, CSS3, and Vanilla JavaScript. Requires no heavy Node.js/Webpack build steps; runs instantly in any browser.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IOT DEPLOYMENT &amp;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Physical Modeling: VIT Vellore Campus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Simulating a realistic distributed sensor deployment across 12 high-traffic campus landmarks.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</a:defRPr>
            </a:pPr>
            <a:r>
              <a:t>📍 CAMPUS SENSOR DEPLOYMENT GRID (12 MONITORED BINS)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BIN-001: </a:t>
            </a:r>
            <a:r>
              <a:rPr sz="950">
                <a:solidFill>
                  <a:srgbClr val="0F172A"/>
                </a:solidFill>
              </a:rPr>
              <a:t>Periyar Central Library Plaza (12.9698° N, 79.1559° E) — Cap: 120 L, Rate: 5.0 %/hr | </a:t>
            </a:r>
            <a:r>
              <a:rPr sz="950">
                <a:solidFill>
                  <a:srgbClr val="64748B"/>
                </a:solidFill>
              </a:rPr>
              <a:t>Study zone, steady moderate filling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BIN-002: </a:t>
            </a:r>
            <a:r>
              <a:rPr sz="950">
                <a:solidFill>
                  <a:srgbClr val="0F172A"/>
                </a:solidFill>
              </a:rPr>
              <a:t>Technology Tower (TT) Food Court (12.9705° N, 79.1595° E) — Cap: 150 L, Rate: 8.5 %/hr | </a:t>
            </a:r>
            <a:r>
              <a:rPr sz="950">
                <a:solidFill>
                  <a:srgbClr val="64748B"/>
                </a:solidFill>
              </a:rPr>
              <a:t>Heavy lunch surge, rapid fill rate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BIN-003: </a:t>
            </a:r>
            <a:r>
              <a:rPr sz="950">
                <a:solidFill>
                  <a:srgbClr val="0F172A"/>
                </a:solidFill>
              </a:rPr>
              <a:t>Silver Jubilee Tower (SJT) Entrance (12.9712° N, 79.1637° E) — Cap: 150 L, Rate: 7.0 %/hr | </a:t>
            </a:r>
            <a:r>
              <a:rPr sz="950">
                <a:solidFill>
                  <a:srgbClr val="64748B"/>
                </a:solidFill>
              </a:rPr>
              <a:t>Continuous classroom foot traffic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BIN-004: </a:t>
            </a:r>
            <a:r>
              <a:rPr sz="950">
                <a:solidFill>
                  <a:srgbClr val="0F172A"/>
                </a:solidFill>
              </a:rPr>
              <a:t>Anna Auditorium North Gate (12.9692° N, 79.1578° E) — Cap: 120 L, Rate: 3.0 %/hr | </a:t>
            </a:r>
            <a:r>
              <a:rPr sz="950">
                <a:solidFill>
                  <a:srgbClr val="64748B"/>
                </a:solidFill>
              </a:rPr>
              <a:t>Event-based burst filling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C2626"/>
                </a:solidFill>
              </a:rPr>
              <a:t>• BIN-005: </a:t>
            </a:r>
            <a:r>
              <a:rPr sz="950">
                <a:solidFill>
                  <a:srgbClr val="0F172A"/>
                </a:solidFill>
              </a:rPr>
              <a:t>Gazebo Canteen &amp; Juice Bar (12.9718° N, 79.1582° E) — Cap: 100 L, Rate: 9.0 %/hr | </a:t>
            </a:r>
            <a:r>
              <a:rPr sz="950">
                <a:solidFill>
                  <a:srgbClr val="64748B"/>
                </a:solidFill>
              </a:rPr>
              <a:t>Fastest accumulation rate on campus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2563EB"/>
                </a:solidFill>
              </a:rPr>
              <a:t>• BIN-006: </a:t>
            </a:r>
            <a:r>
              <a:rPr sz="950">
                <a:solidFill>
                  <a:srgbClr val="0F172A"/>
                </a:solidFill>
              </a:rPr>
              <a:t>SMV Block Academic Square (12.9725° N, 79.1610° E) — Cap: 120 L, Rate: 4.5 %/hr | </a:t>
            </a:r>
            <a:r>
              <a:rPr sz="950">
                <a:solidFill>
                  <a:srgbClr val="64748B"/>
                </a:solidFill>
              </a:rPr>
              <a:t>Engineering labs foot traffic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FF9900"/>
                </a:solidFill>
              </a:rPr>
              <a:t>• DEPOT: </a:t>
            </a:r>
            <a:r>
              <a:rPr sz="950">
                <a:solidFill>
                  <a:srgbClr val="0F172A"/>
                </a:solidFill>
              </a:rPr>
              <a:t>Central Logistics Maintenance Hub (12.9700° N, 79.1600° E) — Cap: N/A, Rate: 0.0 %/hr | </a:t>
            </a:r>
            <a:r>
              <a:rPr sz="950">
                <a:solidFill>
                  <a:srgbClr val="64748B"/>
                </a:solidFill>
              </a:rPr>
              <a:t>Base depot: vehicle start &amp; return point</a:t>
            </a:r>
          </a:p>
          <a:p>
            <a:pPr>
              <a:spcBef>
                <a:spcPts val="800"/>
              </a:spcBef>
              <a:defRPr b="1" sz="1050">
                <a:solidFill>
                  <a:srgbClr val="1E293B"/>
                </a:solidFill>
              </a:defRPr>
            </a:pPr>
            <a:r>
              <a:t>🔬 SENSOR NOISE &amp; REALISM INJECTION: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Gaussian Perturbation: Injects random noise N(0, σ² = 0.5%) to mirror ultrasonic sensor bounce.</a:t>
            </a:r>
            <a:br/>
            <a:r>
              <a:t>• Obstacle Spike Noise: 5% probability of a ±2.5% reading spike simulating dropped bags or sensor obstruction.</a:t>
            </a:r>
            <a:br/>
            <a:r>
              <a:t>• Automatic Collection Cycling: Once a bin reaches &gt; 99.5%, the simulator empties it to 5-10% to test hysteresis reset.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VERIFICATION &amp; SAFETY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Offline Testing Suite: 100% Mocked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How pytest and moto enabled exhaustive validation without touching live cloud resources or incurring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3317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waste-ingest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8/8 PASSED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Schema validation, DynamoDB dual-write, S3 batch archival, 85% alert trigger, 50% reset hysteresis.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645920"/>
            <a:ext cx="260604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75304" y="1783080"/>
            <a:ext cx="23317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waste-analytics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24028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7/7 PASSED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Reset detection, OLS regression slope &amp; intercept, priority score formula, 2-Opt tour distance reduction.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260604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783080"/>
            <a:ext cx="233172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waste-api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24028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9/9 PASSED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GET /bins response format, GET /route response format, Decimal-to-float serializer, CORS headers, 404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645920"/>
            <a:ext cx="260604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88552" y="1783080"/>
            <a:ext cx="233172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End-to-End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24028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F46E5"/>
                </a:solidFill>
              </a:defRPr>
            </a:pPr>
            <a:r>
              <a:t>15/15 PASSED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Full integration test: telemetry ingest -&gt; state update -&gt; scheduled analytics -&gt; route generation -&gt; API retrieval.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698480" cy="1554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THE ZERO-COST CLOUD VERIFICATION PRINCIPLE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By leveraging moto, all AWS services (DynamoDB, S3, SNS) are mocked completely in-memory on the local machine during test execution. 100% of business logic, database transactions, mathematical models, and edge cases were verified before a single cloud dollar was spent or any real AWS API was called.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ARCHITECTURAL TRADE-OFF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Key Design Decisions &amp; Engineering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Detailed justification for every architectural choice made across the system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HTTP API vs. REST API</a:t>
            </a:r>
          </a:p>
          <a:p>
            <a:pPr>
              <a:spcAft>
                <a:spcPts val="400"/>
              </a:spcAft>
              <a:defRPr sz="1050" b="1">
                <a:solidFill>
                  <a:srgbClr val="1E293B"/>
                </a:solidFill>
              </a:defRPr>
            </a:pPr>
            <a:r>
              <a:t>Why HTTP API?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HTTP API v2 is up to 70% cheaper ($1.00/M requests vs $3.50/M) and has significantly lower p99 latency because it bypasses legacy XML transformations. Native CORS and JWT support satisfy all our project requirements without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Serverless vs. EC2 / ECS</a:t>
            </a:r>
          </a:p>
          <a:p>
            <a:pPr>
              <a:spcAft>
                <a:spcPts val="400"/>
              </a:spcAft>
              <a:defRPr sz="1050" b="1">
                <a:solidFill>
                  <a:srgbClr val="1E293B"/>
                </a:solidFill>
              </a:defRPr>
            </a:pPr>
            <a:r>
              <a:t>Why No Dedicated Servers?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Sensor traffic arrives in bursts. An EC2 instance incurs 24/7 billing even when idle and requires OS patching, AMI maintenance, and auto-scaling groups. Lambda charges only for the exact milliseconds executed, achieving $0 idle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DynamoDB vs. Relational RDS</a:t>
            </a:r>
          </a:p>
          <a:p>
            <a:pPr>
              <a:spcAft>
                <a:spcPts val="400"/>
              </a:spcAft>
              <a:defRPr sz="1050" b="1">
                <a:solidFill>
                  <a:srgbClr val="1E293B"/>
                </a:solidFill>
              </a:defRPr>
            </a:pPr>
            <a:r>
              <a:t>Why NoSQL Key-Value?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Relational databases (PostgreSQL/MySQL) suffer connection pool exhaustion when hundreds of concurrent Lambda instances connect. DynamoDB scales via HTTPS requests with predictable single-digit millisecond latency at any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605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2-Opt vs. Genetic / Exact Solvers</a:t>
            </a:r>
          </a:p>
          <a:p>
            <a:pPr>
              <a:spcAft>
                <a:spcPts val="400"/>
              </a:spcAft>
              <a:defRPr sz="1050" b="1">
                <a:solidFill>
                  <a:srgbClr val="1E293B"/>
                </a:solidFill>
              </a:defRPr>
            </a:pPr>
            <a:r>
              <a:t>Why 2-Opt Heuristic?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Exact branch-and-bound solvers are exponential O(n!). Genetic algorithms require heavy tuning and long convergence times. Nearest-Neighbour + 2-Opt produces near-optimal tours within 5ms inside Lambda memory limits.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SECURITY, GOVERNANCE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Security Controls &amp; Free-Tier Cost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Applying the Principle of Least Privilege and analyzing total cost of ownership.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🔒 IAM LEAST-PRIVILEGE SECURITY MODEL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• Granular Per-Function Roles: </a:t>
            </a:r>
            <a:r>
              <a:rPr sz="950">
                <a:solidFill>
                  <a:srgbClr val="475569"/>
                </a:solidFill>
              </a:rPr>
              <a:t>Each Lambda function is bound to its own dedicated IAM execution role with zero cross-role permissions.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• waste-ingest Permissions: </a:t>
            </a:r>
            <a:r>
              <a:rPr sz="950">
                <a:solidFill>
                  <a:srgbClr val="475569"/>
                </a:solidFill>
              </a:rPr>
              <a:t>Strictly scoped to PutItem/UpdateItem on WasteBins &amp; BinReadings, PutObject on s3://smart-waste-data-lake/*, and sns:Publish on the specific alert topic ARN.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• waste-analytics Permissions: </a:t>
            </a:r>
            <a:r>
              <a:rPr sz="950">
                <a:solidFill>
                  <a:srgbClr val="475569"/>
                </a:solidFill>
              </a:rPr>
              <a:t>Strictly scoped to Query on BinReadings and UpdateItem on WasteBins (cannot publish to SNS or write to S3).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• waste-api Permissions: </a:t>
            </a:r>
            <a:r>
              <a:rPr sz="950">
                <a:solidFill>
                  <a:srgbClr val="475569"/>
                </a:solidFill>
              </a:rPr>
              <a:t>Read-only access: GetItem and Scan/Query on WasteBins only.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F172A"/>
                </a:solidFill>
              </a:rPr>
              <a:t>• Encryption at Rest &amp; In-Transit: </a:t>
            </a:r>
            <a:r>
              <a:rPr sz="950">
                <a:solidFill>
                  <a:srgbClr val="475569"/>
                </a:solidFill>
              </a:rPr>
              <a:t>DynamoDB tables encrypted with AWS KMS keys. All external API calls enforced over TLS 1.3.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59669"/>
                </a:solidFill>
              </a:defRPr>
            </a:pPr>
            <a:r>
              <a:t>💰 MONTHLY COST ANALYSIS (PILOT SCALE)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AWS Lambda: </a:t>
            </a:r>
            <a:r>
              <a:rPr sz="950">
                <a:solidFill>
                  <a:srgbClr val="475569"/>
                </a:solidFill>
              </a:rPr>
              <a:t>1,000,000 free requests/mo ➔ </a:t>
            </a:r>
            <a:r>
              <a:rPr b="1" sz="950">
                <a:solidFill>
                  <a:srgbClr val="059669"/>
                </a:solidFill>
              </a:rPr>
              <a:t>$0.00 (within free tier)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API Gateway HTTP API: </a:t>
            </a:r>
            <a:r>
              <a:rPr sz="950">
                <a:solidFill>
                  <a:srgbClr val="475569"/>
                </a:solidFill>
              </a:rPr>
              <a:t>1,000,000 free requests/mo ➔ </a:t>
            </a:r>
            <a:r>
              <a:rPr b="1" sz="950">
                <a:solidFill>
                  <a:srgbClr val="059669"/>
                </a:solidFill>
              </a:rPr>
              <a:t>$0.00 (within free tier)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Amazon DynamoDB: </a:t>
            </a:r>
            <a:r>
              <a:rPr sz="950">
                <a:solidFill>
                  <a:srgbClr val="475569"/>
                </a:solidFill>
              </a:rPr>
              <a:t>25 GB storage &amp; 25 WCU/RCU free ➔ </a:t>
            </a:r>
            <a:r>
              <a:rPr b="1" sz="950">
                <a:solidFill>
                  <a:srgbClr val="059669"/>
                </a:solidFill>
              </a:rPr>
              <a:t>$0.00 (7-day TTL bounds storage)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Amazon S3: </a:t>
            </a:r>
            <a:r>
              <a:rPr sz="950">
                <a:solidFill>
                  <a:srgbClr val="475569"/>
                </a:solidFill>
              </a:rPr>
              <a:t>5 GB Standard Storage free ➔ </a:t>
            </a:r>
            <a:r>
              <a:rPr b="1" sz="950">
                <a:solidFill>
                  <a:srgbClr val="059669"/>
                </a:solidFill>
              </a:rPr>
              <a:t>$0.00 (compressed JSON archives)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Amazon SNS: </a:t>
            </a:r>
            <a:r>
              <a:rPr sz="950">
                <a:solidFill>
                  <a:srgbClr val="475569"/>
                </a:solidFill>
              </a:rPr>
              <a:t>1,000 free email notifications/mo ➔ </a:t>
            </a:r>
            <a:r>
              <a:rPr b="1" sz="950">
                <a:solidFill>
                  <a:srgbClr val="059669"/>
                </a:solidFill>
              </a:rPr>
              <a:t>$0.00 (hysteresis limits emails)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Amazon EventBridge: </a:t>
            </a:r>
            <a:r>
              <a:rPr sz="950">
                <a:solidFill>
                  <a:srgbClr val="475569"/>
                </a:solidFill>
              </a:rPr>
              <a:t>Scheduled cron events ➔ </a:t>
            </a:r>
            <a:r>
              <a:rPr b="1" sz="950">
                <a:solidFill>
                  <a:srgbClr val="059669"/>
                </a:solidFill>
              </a:rPr>
              <a:t>$0.00 (always free)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TOTAL ESTIMATED RUNNING COST: $0.00 / month</a:t>
            </a:r>
            <a:br/>
            <a:r>
              <a:t>Perfect for academic research, campus deployments, and municipal POCs.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LIVE DEMONSTRATION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Step-by-Step Project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How to effectively demonstrate the full system capabilities in a viva or technical defense.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1: Initial Baseline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Launch dashboard/index.html. Observe 12 monitored campus bins positioned across VIT Vellore in green 'Normal' state (&lt; 60% fill). Central Depot is centered on the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5564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2: Simulation Execution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Run python simulator/simulate_bins.py. Sensors emit JSON packets to API Gateway. Fill levels dynamically advance; Gaussian noise and foot-traffic surges begin.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57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Step 3: Threshold Alert Trigger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Bin-002 or Bin-005 crosses 85% capacity. Watch waste-ingest trigger Amazon SNS. An emergency email alert is sent to operations; alerted flag is set to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0400"/>
            <a:ext cx="5257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31012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Step 4: Scheduled Analytics Run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EventBridge cron fires waste-analytics. OLS regression computes fill rate (%/hr), forecasts hours-to-90%, and computes Priority Scores (P &gt;= 60).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257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Step 5: Dynamic Route Plotting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2-Opt TSP algorithm calculates distance-minimized tour. The Leaflet dashboard automatically renders the blue collection path connecting the Depot to critical bins.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80"/>
            <a:ext cx="5257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864608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Step 6: Collection &amp; Reset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Simulator empties full bin (&lt; 50%). On the next ingestion cycle, alerted resets to false, clearing the alert and removing the bin from future routes.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Arial"/>
              </a:defRPr>
            </a:pPr>
            <a:r>
              <a:t>FUTURE ENHANCEMENTS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Production Roadmap: Industrial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How the system scales from a campus prototype to a city-wide municipal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1089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📡 AWS IoT Core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Hardware Level:
  </a:t>
            </a:r>
            <a:r>
              <a:rPr sz="950">
                <a:solidFill>
                  <a:srgbClr val="475569"/>
                </a:solidFill>
              </a:rPr>
              <a:t>Deploy ESP32 / Arduino LoRaWAN microcontrollers with ultrasonic &amp; load-cell sensors.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MQTT Broker:
  </a:t>
            </a:r>
            <a:r>
              <a:rPr sz="950">
                <a:solidFill>
                  <a:srgbClr val="475569"/>
                </a:solidFill>
              </a:rPr>
              <a:t>Ingest telemetry directly via AWS IoT Core with mutual TLS (X.509 device certificates).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Device Shadows:
  </a:t>
            </a:r>
            <a:r>
              <a:rPr sz="950">
                <a:solidFill>
                  <a:srgbClr val="475569"/>
                </a:solidFill>
              </a:rPr>
              <a:t>Maintain synchronized digital twins for bins even during network dropouts.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10896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🧠 Advanced SageMaker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Deep Learning Time-Series:
  </a:t>
            </a:r>
            <a:r>
              <a:rPr sz="950">
                <a:solidFill>
                  <a:srgbClr val="475569"/>
                </a:solidFill>
              </a:rPr>
              <a:t>Replace linear OLS with Amazon SageMaker DeepAR / LSTM models.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Weather &amp; Event Context:
  </a:t>
            </a:r>
            <a:r>
              <a:rPr sz="950">
                <a:solidFill>
                  <a:srgbClr val="475569"/>
                </a:solidFill>
              </a:rPr>
              <a:t>Ingest rain forecasts, campus festival schedules, and dining hours.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Anomaly Detection:
  </a:t>
            </a:r>
            <a:r>
              <a:rPr sz="950">
                <a:solidFill>
                  <a:srgbClr val="475569"/>
                </a:solidFill>
              </a:rPr>
              <a:t>Flag sensor tampering, vandalism, or fire hazards via temperature anomalies.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10896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🚚 Fleet Management &amp; Turn-by-Turn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774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Driver Mobile App:
  </a:t>
            </a:r>
            <a:r>
              <a:rPr sz="950">
                <a:solidFill>
                  <a:srgbClr val="475569"/>
                </a:solidFill>
              </a:rPr>
              <a:t>Real-time React Native mobile client for truck drivers with offline turn-by-turn navigation.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Capacitated VRP:
  </a:t>
            </a:r>
            <a:r>
              <a:rPr sz="950">
                <a:solidFill>
                  <a:srgbClr val="475569"/>
                </a:solidFill>
              </a:rPr>
              <a:t>Multi-truck optimization (CVRP) allocating multiple vehicle capacities and shift hours.</a:t>
            </a:r>
          </a:p>
          <a:p>
            <a:pPr>
              <a:spcAft>
                <a:spcPts val="1200"/>
              </a:spcAft>
            </a:pPr>
            <a:r>
              <a:rPr b="1" sz="1050">
                <a:solidFill>
                  <a:srgbClr val="0F172A"/>
                </a:solidFill>
              </a:rPr>
              <a:t>• RFID Bin Scanning:
  </a:t>
            </a:r>
            <a:r>
              <a:rPr sz="950">
                <a:solidFill>
                  <a:srgbClr val="475569"/>
                </a:solidFill>
              </a:rPr>
              <a:t>Drivers tap NFC/RFID tag upon collection to confirm physical emptying.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Engineering Achievements</a:t>
            </a:r>
          </a:p>
          <a:p>
            <a:pPr>
              <a:defRPr sz="1400">
                <a:solidFill>
                  <a:srgbClr val="FF9900"/>
                </a:solidFill>
              </a:defRPr>
            </a:pPr>
            <a:r>
              <a:t>Key Takeaways, Competencies Demonstrated, and Technical Viva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46888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2194560"/>
            <a:ext cx="219456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Cloud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</a:defRPr>
            </a:pPr>
            <a:r>
              <a:t>Architected an enterprise-grade serverless event-driven system on AWS: API Gateway, Lambda, DynamoDB, S3, SNS, and EventBridge with 0 idle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2011680"/>
            <a:ext cx="246888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85032" y="2194560"/>
            <a:ext cx="219456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Applied Mathematics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265176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</a:defRPr>
            </a:pPr>
            <a:r>
              <a:t>Formulated Ordinary Least Squares (OLS) regression for real-time sensor fill dynamics with reset detection and edge-case division safeguards.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46888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18504" y="2194560"/>
            <a:ext cx="219456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Graph &amp; TSP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65176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</a:defRPr>
            </a:pPr>
            <a:r>
              <a:t>Implemented combinatorial Nearest-Neighbour and 2-Opt local search algorithms reducing fleet collection distance and fuel consumption by 30-45%.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14816" y="2011680"/>
            <a:ext cx="246888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51976" y="2194560"/>
            <a:ext cx="219456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Production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2651760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2E8F0"/>
                </a:solidFill>
              </a:defRPr>
            </a:pPr>
            <a:r>
              <a:t>Implemented dual-threshold alert hysteresis (85%/50%), 7-day TTL data retention, and achieved 100% offline verification (39/39 passing tests).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577840"/>
            <a:ext cx="1033272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Thank You! Ready for Technical 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